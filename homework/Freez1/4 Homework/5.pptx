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0" r:id="rId8"/>
    <p:sldId id="268" r:id="rId9"/>
    <p:sldId id="269" r:id="rId10"/>
    <p:sldId id="262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84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6F35F5-1906-491B-8714-25D4DDF9C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E3C22A6-3414-47A2-A152-4A73DFD2A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B3D3BC-44C7-40E6-AB44-2470134A7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B9D4C-351B-4BBC-AA34-CBC72C5D0940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8FB676-592B-428D-A7CB-B9D019452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2AC800-812A-4664-A15C-71C80D73A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4DAB-5A98-46EC-8A8A-30CCEB5DE3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7064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E1BBA1-3C09-46E3-9498-E6F9A9D82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1B694B-0EC2-4D67-8399-D4839AB0B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D581F4-4158-46DD-99F9-7F16CA0B4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B9D4C-351B-4BBC-AA34-CBC72C5D0940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198F6D-E89D-499F-96AB-A59977DFB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8A2CF2-A977-4355-9FC2-24761EA86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4DAB-5A98-46EC-8A8A-30CCEB5DE3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8495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ED37CB-2460-4C87-BCEA-423B70B43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7385B0-C905-45BE-951C-50C047FF1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2BDCD1-2496-451C-907A-4ACF3520E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B9D4C-351B-4BBC-AA34-CBC72C5D0940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BA823E-A028-4ABA-A2E0-23DD4882C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80C9B6-F982-4683-AC82-36630BF81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4DAB-5A98-46EC-8A8A-30CCEB5DE3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56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93641A-4CFD-4F69-ADD5-2B3F8F1C1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4A1C94-4424-4910-B23F-EFC1BD95E1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72FB7F-C797-4EA3-93C8-5765458758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F5E6C0-D096-41FB-A895-D8D38D42F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B9D4C-351B-4BBC-AA34-CBC72C5D0940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4BDCC7-CFDC-459F-9EDA-9859B335B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3036BC-75E9-43E6-89DA-85209C6EE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4DAB-5A98-46EC-8A8A-30CCEB5DE3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5871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E5A1B8-CDAF-4079-AF32-43BD90EE1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BE5DBFE-4A5C-4A28-9A68-19E232844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BBF8326-298F-4CB5-8866-AD260FBD7A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397CA5B-5EFC-448C-A6BC-0B6B3D596F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0DDE97D-0D72-4946-A8AE-43A24FB79E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B169CCB-60A6-466E-AFA5-4639293CE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B9D4C-351B-4BBC-AA34-CBC72C5D0940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F7A4CD6-00E6-4889-9D15-598A36F51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6FF485B-A441-4D52-A293-C251A3F39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4DAB-5A98-46EC-8A8A-30CCEB5DE3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7265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5E7C88-2179-47DA-8D84-DA32BE536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3781FB9-73FC-48BB-9E1B-84F32EA4A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B9D4C-351B-4BBC-AA34-CBC72C5D0940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AF3AD83-59A1-49DB-AFB7-EE8B57EE7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F338D3A-AFC8-429E-ABA3-D4EAAB5CF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4DAB-5A98-46EC-8A8A-30CCEB5DE3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4322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A9CDFAE-7B47-43BB-8B55-52B58A497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B9D4C-351B-4BBC-AA34-CBC72C5D0940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1070116-3601-4F96-B659-A7F2F898A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76608B9-4964-4D68-BF7D-99EDCD336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4DAB-5A98-46EC-8A8A-30CCEB5DE3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8310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0AB2AB-5343-423B-877C-646A1D2AC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9194B3-D03D-4CFB-8FDA-B6ED3CBAA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3517B0-9836-4C77-98F8-01F36442C1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2F0D4F2-9CD1-4469-9E43-06381F577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B9D4C-351B-4BBC-AA34-CBC72C5D0940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3C478E-CC54-4E4C-903D-198F7B11A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A78EAC-670D-446E-A829-C53A675A7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4DAB-5A98-46EC-8A8A-30CCEB5DE3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9170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7BDB4C-8024-4E1B-AD33-33E13DF61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97551CE-2A54-4683-A1D6-6CE4F1326F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7E8E08-FB08-4BD3-AA3F-37D73AA4F0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1E5C7D-08BC-4A95-8AE3-F788F192D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B9D4C-351B-4BBC-AA34-CBC72C5D0940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C4C7034-5951-4CD5-BF2F-604A33EC5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24D976-EF46-4EF9-A68D-D092194E4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4DAB-5A98-46EC-8A8A-30CCEB5DE3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688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904369-F577-4F3F-BA0D-7EFD214E1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9CF7302-4315-4D9E-AF6C-38C8833D25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0E89F7-9F85-4EA9-9B1D-9F4FD0A47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B9D4C-351B-4BBC-AA34-CBC72C5D0940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720D59-523D-46A1-B1C5-C14D5935E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68DFAD-4F74-4170-8BF8-B1E22F47C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4DAB-5A98-46EC-8A8A-30CCEB5DE3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7655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4120F13-E4B3-469F-8494-0903D0B21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3221170-1FAC-4FBA-9B7A-AB8FB4183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A28113-64A9-414E-B001-B5ABD91F8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B9D4C-351B-4BBC-AA34-CBC72C5D0940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6F0551-9109-43FB-B1D9-B197FF864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94E11D-5C81-4A19-ADAF-4ACA975FD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4DAB-5A98-46EC-8A8A-30CCEB5DE3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111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0AB986-78A5-4BD7-835D-475ACE5BE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8FC00CF-7DB5-42B7-BBEF-A636F5A7B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C0AF0F-38F3-446C-88F8-378F26A919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5B9D4C-351B-4BBC-AA34-CBC72C5D0940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ADD0F3-689F-463B-9067-7590C6A41D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341E63-0717-4AE5-976F-F9941185DE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E4DAB-5A98-46EC-8A8A-30CCEB5DE3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1227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 descr="Picture background">
            <a:extLst>
              <a:ext uri="{FF2B5EF4-FFF2-40B4-BE49-F238E27FC236}">
                <a16:creationId xmlns:a16="http://schemas.microsoft.com/office/drawing/2014/main" id="{44BCC45B-A290-42F4-9A52-875879750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1600" y="-98425"/>
            <a:ext cx="12344400" cy="705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17DF51-31BF-4831-918B-B872FDEDD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13650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Пузырьковая сортировка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25210BD-0B5B-4C7A-ABCB-A1FF307C39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21028" y="4726112"/>
            <a:ext cx="3904181" cy="580490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Русаков Е.М.</a:t>
            </a:r>
          </a:p>
        </p:txBody>
      </p:sp>
    </p:spTree>
    <p:extLst>
      <p:ext uri="{BB962C8B-B14F-4D97-AF65-F5344CB8AC3E}">
        <p14:creationId xmlns:p14="http://schemas.microsoft.com/office/powerpoint/2010/main" val="1061500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 descr="Picture background">
            <a:extLst>
              <a:ext uri="{FF2B5EF4-FFF2-40B4-BE49-F238E27FC236}">
                <a16:creationId xmlns:a16="http://schemas.microsoft.com/office/drawing/2014/main" id="{44BCC45B-A290-42F4-9A52-875879750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560" y="-191713"/>
            <a:ext cx="12380360" cy="7111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17DF51-31BF-4831-918B-B872FDEDD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6200" y="-98425"/>
            <a:ext cx="12344400" cy="750013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История алгоритма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8E408A-A75F-4DDD-BBB4-9350F695882B}"/>
              </a:ext>
            </a:extLst>
          </p:cNvPr>
          <p:cNvSpPr txBox="1"/>
          <p:nvPr/>
        </p:nvSpPr>
        <p:spPr>
          <a:xfrm>
            <a:off x="4881010" y="1166842"/>
            <a:ext cx="732155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fkGroteskNeue"/>
              </a:rPr>
              <a:t> Алгоритм появился в 1950-х годах. Один из самых старых и простейших алгоритмов сортировки.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fkGroteskNeue"/>
              </a:rPr>
              <a:t> Название связано с тем, что более мелкие элементы «всплывают» к началу массива, подобно пузырькам в жидкости.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fkGroteskNeue"/>
              </a:rPr>
              <a:t>Разработан как базовый метод для машинной сортировки данных в эпоху первых электронных вычислительных машин.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fkGroteskNeue"/>
              </a:rPr>
              <a:t>Был одним из первых алгоритмов, документированных в научной литературе по информатике.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sz="2400" b="0" i="0" dirty="0">
              <a:solidFill>
                <a:schemeClr val="bg1"/>
              </a:solidFill>
              <a:effectLst/>
              <a:latin typeface="fkGroteskNeue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5EAE9E0-780A-4A1D-BF34-828900C42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3001"/>
            <a:ext cx="4870450" cy="3018999"/>
          </a:xfrm>
          <a:prstGeom prst="rect">
            <a:avLst/>
          </a:prstGeom>
        </p:spPr>
      </p:pic>
      <p:sp>
        <p:nvSpPr>
          <p:cNvPr id="9" name="Прямоугольник: один скругленный угол 8">
            <a:extLst>
              <a:ext uri="{FF2B5EF4-FFF2-40B4-BE49-F238E27FC236}">
                <a16:creationId xmlns:a16="http://schemas.microsoft.com/office/drawing/2014/main" id="{A6912B45-DA03-4CB2-BE39-06EECC158847}"/>
              </a:ext>
            </a:extLst>
          </p:cNvPr>
          <p:cNvSpPr/>
          <p:nvPr/>
        </p:nvSpPr>
        <p:spPr>
          <a:xfrm>
            <a:off x="4936090" y="996950"/>
            <a:ext cx="7080250" cy="4524315"/>
          </a:xfrm>
          <a:prstGeom prst="round1Rect">
            <a:avLst/>
          </a:prstGeom>
          <a:solidFill>
            <a:schemeClr val="bg2">
              <a:lumMod val="50000"/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6662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 descr="Picture background">
            <a:extLst>
              <a:ext uri="{FF2B5EF4-FFF2-40B4-BE49-F238E27FC236}">
                <a16:creationId xmlns:a16="http://schemas.microsoft.com/office/drawing/2014/main" id="{44BCC45B-A290-42F4-9A52-875879750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6850"/>
            <a:ext cx="12344400" cy="705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17DF51-31BF-4831-918B-B872FDEDD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6200" y="-98425"/>
            <a:ext cx="12344400" cy="750013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Основная идея сортировки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8E408A-A75F-4DDD-BBB4-9350F695882B}"/>
              </a:ext>
            </a:extLst>
          </p:cNvPr>
          <p:cNvSpPr txBox="1"/>
          <p:nvPr/>
        </p:nvSpPr>
        <p:spPr>
          <a:xfrm>
            <a:off x="1253662" y="4537898"/>
            <a:ext cx="10109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fkGroteskNeue"/>
              </a:rPr>
              <a:t>Алгоритм многократно проходит по массиву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fkGroteskNeue"/>
              </a:rPr>
              <a:t>На каждом проходе сравниваются соседние элементы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fkGroteskNeue"/>
              </a:rPr>
              <a:t>Если элемент слева больше, чем элемент справа — они меняются местами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fkGroteskNeue"/>
              </a:rPr>
              <a:t>Процесс повторяется до тех пор, пока массив полностью не отсортирован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sz="2000" b="0" i="0" dirty="0">
              <a:solidFill>
                <a:schemeClr val="bg1"/>
              </a:solidFill>
              <a:effectLst/>
              <a:latin typeface="fkGroteskNeue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E34A53B-9FE5-42D2-A4ED-4454F408E91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8" t="-426"/>
          <a:stretch/>
        </p:blipFill>
        <p:spPr>
          <a:xfrm>
            <a:off x="2617343" y="1526691"/>
            <a:ext cx="7244648" cy="2089812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E35623B-D3CB-4E60-919A-E3B54790BD87}"/>
              </a:ext>
            </a:extLst>
          </p:cNvPr>
          <p:cNvSpPr/>
          <p:nvPr/>
        </p:nvSpPr>
        <p:spPr>
          <a:xfrm>
            <a:off x="1253662" y="4537898"/>
            <a:ext cx="10284288" cy="1615252"/>
          </a:xfrm>
          <a:prstGeom prst="rect">
            <a:avLst/>
          </a:prstGeom>
          <a:solidFill>
            <a:schemeClr val="bg2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9918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 descr="Picture background">
            <a:extLst>
              <a:ext uri="{FF2B5EF4-FFF2-40B4-BE49-F238E27FC236}">
                <a16:creationId xmlns:a16="http://schemas.microsoft.com/office/drawing/2014/main" id="{44BCC45B-A290-42F4-9A52-875879750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1" y="-196850"/>
            <a:ext cx="12405189" cy="705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17DF51-31BF-4831-918B-B872FDEDD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6200" y="-98425"/>
            <a:ext cx="12344400" cy="750013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Механизм пузырьковой сортировки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6E0653B-F4F4-4867-A580-D3C49BF703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10" y="1047236"/>
            <a:ext cx="4928814" cy="27877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404C8B-25AE-4BFE-B76A-A83E9BB578EF}"/>
              </a:ext>
            </a:extLst>
          </p:cNvPr>
          <p:cNvSpPr txBox="1"/>
          <p:nvPr/>
        </p:nvSpPr>
        <p:spPr>
          <a:xfrm>
            <a:off x="5388796" y="918716"/>
            <a:ext cx="687940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>
                <a:solidFill>
                  <a:schemeClr val="bg1"/>
                </a:solidFill>
                <a:effectLst/>
                <a:latin typeface="fkGroteskNeue"/>
              </a:rPr>
              <a:t>Сравним 6 и 5 → меняем</a:t>
            </a:r>
          </a:p>
          <a:p>
            <a:r>
              <a:rPr lang="ru-RU" sz="2400" b="0" i="0" dirty="0">
                <a:solidFill>
                  <a:schemeClr val="bg1"/>
                </a:solidFill>
                <a:effectLst/>
                <a:latin typeface="fkGroteskNeue"/>
              </a:rPr>
              <a:t>Сравним 6 и 3 → меняем</a:t>
            </a:r>
            <a:endParaRPr lang="ru-RU" sz="2400" dirty="0">
              <a:solidFill>
                <a:schemeClr val="bg1"/>
              </a:solidFill>
              <a:latin typeface="fkGroteskNeue"/>
            </a:endParaRPr>
          </a:p>
          <a:p>
            <a:r>
              <a:rPr lang="ru-RU" sz="2400" b="0" i="0" dirty="0">
                <a:solidFill>
                  <a:schemeClr val="bg1"/>
                </a:solidFill>
                <a:effectLst/>
                <a:latin typeface="fkGroteskNeue"/>
              </a:rPr>
              <a:t>Сравним 6 и 1 → меняем</a:t>
            </a:r>
            <a:endParaRPr lang="ru-RU" sz="2400" dirty="0">
              <a:solidFill>
                <a:schemeClr val="bg1"/>
              </a:solidFill>
              <a:latin typeface="fkGroteskNeue"/>
            </a:endParaRPr>
          </a:p>
          <a:p>
            <a:r>
              <a:rPr lang="ru-RU" sz="2400" b="0" i="0" dirty="0">
                <a:solidFill>
                  <a:schemeClr val="bg1"/>
                </a:solidFill>
                <a:effectLst/>
                <a:latin typeface="fkGroteskNeue"/>
              </a:rPr>
              <a:t>Сравним 6 и 8 → не меняем</a:t>
            </a:r>
            <a:endParaRPr lang="ru-RU" sz="2400" dirty="0">
              <a:solidFill>
                <a:schemeClr val="bg1"/>
              </a:solidFill>
              <a:latin typeface="fkGroteskNeue"/>
            </a:endParaRPr>
          </a:p>
          <a:p>
            <a:r>
              <a:rPr lang="ru-RU" sz="2400" b="0" i="0" dirty="0">
                <a:solidFill>
                  <a:schemeClr val="bg1"/>
                </a:solidFill>
                <a:effectLst/>
                <a:latin typeface="fkGroteskNeue"/>
              </a:rPr>
              <a:t>Сравним 8 и 7 → меняем</a:t>
            </a:r>
            <a:endParaRPr lang="ru-RU" sz="2400" dirty="0">
              <a:solidFill>
                <a:schemeClr val="bg1"/>
              </a:solidFill>
              <a:latin typeface="fkGroteskNeue"/>
            </a:endParaRPr>
          </a:p>
          <a:p>
            <a:r>
              <a:rPr lang="ru-RU" sz="2400" b="0" i="0" dirty="0">
                <a:solidFill>
                  <a:schemeClr val="bg1"/>
                </a:solidFill>
                <a:effectLst/>
                <a:latin typeface="fkGroteskNeue"/>
              </a:rPr>
              <a:t>Сравним 8 и 2 → меняем</a:t>
            </a:r>
            <a:endParaRPr lang="ru-RU" sz="2400" dirty="0">
              <a:solidFill>
                <a:schemeClr val="bg1"/>
              </a:solidFill>
              <a:latin typeface="fkGroteskNeue"/>
            </a:endParaRPr>
          </a:p>
          <a:p>
            <a:r>
              <a:rPr lang="ru-RU" sz="2400" b="0" i="0" dirty="0">
                <a:solidFill>
                  <a:schemeClr val="bg1"/>
                </a:solidFill>
                <a:effectLst/>
                <a:latin typeface="fkGroteskNeue"/>
              </a:rPr>
              <a:t>Сравним 8 и 4 → меняем</a:t>
            </a:r>
          </a:p>
          <a:p>
            <a:r>
              <a:rPr lang="ru-RU" sz="2400" b="0" i="0" dirty="0">
                <a:solidFill>
                  <a:schemeClr val="bg1"/>
                </a:solidFill>
                <a:effectLst/>
                <a:latin typeface="fkGroteskNeue"/>
              </a:rPr>
              <a:t>После последовательных сравнений и обменов самый большой элемент </a:t>
            </a:r>
            <a:r>
              <a:rPr lang="ru-RU" sz="2400" dirty="0">
                <a:solidFill>
                  <a:schemeClr val="bg1"/>
                </a:solidFill>
                <a:latin typeface="fkGroteskNeue"/>
              </a:rPr>
              <a:t>(8) 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fkGroteskNeue"/>
              </a:rPr>
              <a:t>оказывается в конце массива, заняв свою окончательную позицию.</a:t>
            </a:r>
            <a:endParaRPr lang="ru-RU" dirty="0">
              <a:solidFill>
                <a:schemeClr val="bg1"/>
              </a:solidFill>
              <a:latin typeface="fkGroteskNeue"/>
            </a:endParaRPr>
          </a:p>
          <a:p>
            <a:endParaRPr lang="ru-RU" sz="2400" dirty="0">
              <a:solidFill>
                <a:schemeClr val="bg1"/>
              </a:solidFill>
              <a:latin typeface="fkGroteskNeue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7A3A2AE-ED98-4BE2-BB6E-25E9F4246840}"/>
              </a:ext>
            </a:extLst>
          </p:cNvPr>
          <p:cNvSpPr/>
          <p:nvPr/>
        </p:nvSpPr>
        <p:spPr>
          <a:xfrm>
            <a:off x="5340350" y="918716"/>
            <a:ext cx="6648450" cy="3900934"/>
          </a:xfrm>
          <a:prstGeom prst="rect">
            <a:avLst/>
          </a:prstGeom>
          <a:solidFill>
            <a:schemeClr val="bg2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491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 descr="Picture background">
            <a:extLst>
              <a:ext uri="{FF2B5EF4-FFF2-40B4-BE49-F238E27FC236}">
                <a16:creationId xmlns:a16="http://schemas.microsoft.com/office/drawing/2014/main" id="{44BCC45B-A290-42F4-9A52-875879750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960" y="-196850"/>
            <a:ext cx="12405189" cy="705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17DF51-31BF-4831-918B-B872FDEDD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6200" y="-98425"/>
            <a:ext cx="12344400" cy="750013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Характеристики пузырьковой сортировки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404C8B-25AE-4BFE-B76A-A83E9BB578EF}"/>
              </a:ext>
            </a:extLst>
          </p:cNvPr>
          <p:cNvSpPr txBox="1"/>
          <p:nvPr/>
        </p:nvSpPr>
        <p:spPr>
          <a:xfrm>
            <a:off x="6697895" y="656148"/>
            <a:ext cx="546927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>
                <a:solidFill>
                  <a:schemeClr val="bg1"/>
                </a:solidFill>
                <a:effectLst/>
                <a:latin typeface="fkGroteskNeue"/>
              </a:rPr>
              <a:t>Временная сложность:</a:t>
            </a:r>
            <a:r>
              <a:rPr lang="ru-RU" sz="2400" dirty="0">
                <a:solidFill>
                  <a:schemeClr val="bg1"/>
                </a:solidFill>
                <a:latin typeface="fkGroteskNeue"/>
              </a:rPr>
              <a:t> 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fkGroteskNeue"/>
              </a:rPr>
              <a:t>O(n²) в худшем и среднем случаях</a:t>
            </a:r>
          </a:p>
          <a:p>
            <a:r>
              <a:rPr lang="ru-RU" sz="2400" b="0" i="0" dirty="0">
                <a:solidFill>
                  <a:schemeClr val="bg1"/>
                </a:solidFill>
                <a:effectLst/>
                <a:latin typeface="fkGroteskNeue"/>
              </a:rPr>
              <a:t>Пространственная сложность:  O(1) — сортировка на месте, без дополнительной памяти</a:t>
            </a:r>
          </a:p>
          <a:p>
            <a:r>
              <a:rPr lang="ru-RU" sz="2400" b="0" i="0" dirty="0">
                <a:solidFill>
                  <a:schemeClr val="bg1"/>
                </a:solidFill>
                <a:effectLst/>
                <a:latin typeface="fkGroteskNeue"/>
              </a:rPr>
              <a:t>Стабильный алгоритм — сохраняет относительный порядок равных элементов</a:t>
            </a:r>
          </a:p>
          <a:p>
            <a:r>
              <a:rPr lang="ru-RU" sz="2400" b="0" i="0" dirty="0">
                <a:solidFill>
                  <a:schemeClr val="bg1"/>
                </a:solidFill>
                <a:effectLst/>
                <a:latin typeface="fkGroteskNeue"/>
              </a:rPr>
              <a:t>Простая реализация и понимание</a:t>
            </a:r>
          </a:p>
          <a:p>
            <a:r>
              <a:rPr lang="ru-RU" sz="2400" b="0" i="0" dirty="0">
                <a:solidFill>
                  <a:schemeClr val="bg1"/>
                </a:solidFill>
                <a:effectLst/>
                <a:latin typeface="fkGroteskNeue"/>
              </a:rPr>
              <a:t>Неэффективен для больших массивов из-за квадратичной сложности</a:t>
            </a:r>
          </a:p>
          <a:p>
            <a:r>
              <a:rPr lang="ru-RU" sz="2400" b="0" i="0" dirty="0">
                <a:solidFill>
                  <a:schemeClr val="bg1"/>
                </a:solidFill>
                <a:effectLst/>
                <a:latin typeface="fkGroteskNeue"/>
              </a:rPr>
              <a:t>Хорошо работает для почти отсортированных или небольших массивов</a:t>
            </a:r>
            <a:endParaRPr lang="ru-RU" sz="2400" dirty="0">
              <a:solidFill>
                <a:schemeClr val="bg1"/>
              </a:solidFill>
              <a:latin typeface="fkGroteskNeue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CBB16CB-6DBD-4990-941B-A52993CDC3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87" t="4929" r="2225" b="5041"/>
          <a:stretch/>
        </p:blipFill>
        <p:spPr>
          <a:xfrm>
            <a:off x="74488" y="926173"/>
            <a:ext cx="6522378" cy="3303142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720209A-FCAF-4C57-82F8-D5CF5DB6DC57}"/>
              </a:ext>
            </a:extLst>
          </p:cNvPr>
          <p:cNvSpPr/>
          <p:nvPr/>
        </p:nvSpPr>
        <p:spPr>
          <a:xfrm>
            <a:off x="6697895" y="742950"/>
            <a:ext cx="5570305" cy="5130800"/>
          </a:xfrm>
          <a:prstGeom prst="rect">
            <a:avLst/>
          </a:prstGeom>
          <a:solidFill>
            <a:schemeClr val="tx1">
              <a:lumMod val="65000"/>
              <a:lumOff val="35000"/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8268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 descr="Picture background">
            <a:extLst>
              <a:ext uri="{FF2B5EF4-FFF2-40B4-BE49-F238E27FC236}">
                <a16:creationId xmlns:a16="http://schemas.microsoft.com/office/drawing/2014/main" id="{44BCC45B-A290-42F4-9A52-875879750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-196850"/>
            <a:ext cx="12405189" cy="705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17DF51-31BF-4831-918B-B872FDEDD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6200" y="-98425"/>
            <a:ext cx="12344400" cy="750013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Преимущества и недостатки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037F191-D099-477D-A38F-7DAD52DAFE9C}"/>
              </a:ext>
            </a:extLst>
          </p:cNvPr>
          <p:cNvSpPr/>
          <p:nvPr/>
        </p:nvSpPr>
        <p:spPr>
          <a:xfrm>
            <a:off x="1346345" y="1146431"/>
            <a:ext cx="3113070" cy="1202077"/>
          </a:xfrm>
          <a:prstGeom prst="rect">
            <a:avLst/>
          </a:prstGeom>
          <a:solidFill>
            <a:schemeClr val="tx1">
              <a:lumMod val="65000"/>
              <a:lumOff val="35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atin typeface="fkGroteskNeue"/>
                <a:ea typeface="Ebrima" panose="02000000000000000000" pitchFamily="2" charset="0"/>
                <a:cs typeface="Ebrima" panose="02000000000000000000" pitchFamily="2" charset="0"/>
              </a:rPr>
              <a:t>Недостатки </a:t>
            </a:r>
            <a:r>
              <a:rPr lang="ru-RU" sz="2400" b="0" i="0" dirty="0">
                <a:effectLst/>
                <a:latin typeface="fkGroteskNeue"/>
              </a:rPr>
              <a:t>❌</a:t>
            </a:r>
            <a:endParaRPr lang="ru-RU" sz="2400" dirty="0">
              <a:latin typeface="fkGroteskNeue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858E4BE-2560-4D50-8C91-7EAB769CA2F2}"/>
              </a:ext>
            </a:extLst>
          </p:cNvPr>
          <p:cNvSpPr/>
          <p:nvPr/>
        </p:nvSpPr>
        <p:spPr>
          <a:xfrm>
            <a:off x="7732586" y="1146431"/>
            <a:ext cx="3113070" cy="1202077"/>
          </a:xfrm>
          <a:prstGeom prst="rect">
            <a:avLst/>
          </a:prstGeom>
          <a:solidFill>
            <a:schemeClr val="tx1">
              <a:lumMod val="65000"/>
              <a:lumOff val="35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0" i="0" dirty="0">
                <a:effectLst/>
                <a:latin typeface="fkGroteskNeue"/>
              </a:rPr>
              <a:t>Преимущества</a:t>
            </a:r>
            <a:r>
              <a:rPr lang="ru-RU" sz="2400" dirty="0">
                <a:effectLst/>
              </a:rPr>
              <a:t>✅</a:t>
            </a:r>
            <a:endParaRPr lang="ru-RU" sz="2400" dirty="0">
              <a:latin typeface="fkGroteskNeue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6C8A3CE-E8FF-4EF4-A4F5-27B9CC9C7C10}"/>
              </a:ext>
            </a:extLst>
          </p:cNvPr>
          <p:cNvSpPr/>
          <p:nvPr/>
        </p:nvSpPr>
        <p:spPr>
          <a:xfrm>
            <a:off x="100174" y="3261192"/>
            <a:ext cx="5605409" cy="2684124"/>
          </a:xfrm>
          <a:prstGeom prst="rect">
            <a:avLst/>
          </a:prstGeom>
          <a:solidFill>
            <a:schemeClr val="tx1">
              <a:lumMod val="65000"/>
              <a:lumOff val="35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fkGroteskNeue"/>
              </a:rPr>
              <a:t>Низкая скорость на больших массивах (</a:t>
            </a:r>
            <a:r>
              <a:rPr lang="ru-RU" sz="2400" b="0" i="0" dirty="0">
                <a:effectLst/>
                <a:latin typeface="KaTeX_Main"/>
              </a:rPr>
              <a:t>O(n</a:t>
            </a:r>
            <a:r>
              <a:rPr lang="ru-RU" sz="2400" b="0" i="0" dirty="0">
                <a:effectLst/>
                <a:latin typeface="YS Text"/>
              </a:rPr>
              <a:t>²</a:t>
            </a:r>
            <a:r>
              <a:rPr lang="ru-RU" sz="2400" b="0" i="0" dirty="0">
                <a:effectLst/>
                <a:latin typeface="KaTeX_Main"/>
              </a:rPr>
              <a:t>)</a:t>
            </a:r>
            <a:r>
              <a:rPr lang="ru-RU" sz="2400" b="0" i="1" dirty="0">
                <a:effectLst/>
                <a:latin typeface="KaTeX_Math"/>
              </a:rPr>
              <a:t> </a:t>
            </a:r>
            <a:r>
              <a:rPr lang="ru-RU" sz="2400" b="0" i="0" dirty="0">
                <a:effectLst/>
                <a:latin typeface="fkGroteskNeue"/>
              </a:rPr>
              <a:t>Практически не используется в реальных задачах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fkGroteskNeue"/>
              </a:rPr>
              <a:t>Быстрее только для очень маленьких или почти отсортированных массивов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0262303-6D78-4F1C-BF2B-2E23DDBDEAF0}"/>
              </a:ext>
            </a:extLst>
          </p:cNvPr>
          <p:cNvSpPr/>
          <p:nvPr/>
        </p:nvSpPr>
        <p:spPr>
          <a:xfrm>
            <a:off x="6486417" y="3261192"/>
            <a:ext cx="5605409" cy="2684124"/>
          </a:xfrm>
          <a:prstGeom prst="rect">
            <a:avLst/>
          </a:prstGeom>
          <a:solidFill>
            <a:schemeClr val="tx1">
              <a:lumMod val="65000"/>
              <a:lumOff val="35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fkGroteskNeue"/>
              </a:rPr>
              <a:t>Простота реализации и понимания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fkGroteskNeue"/>
              </a:rPr>
              <a:t>Стабильный алгоритм: сохраняет относительный порядок равных элементов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fkGroteskNeue"/>
              </a:rPr>
              <a:t>Не требует дополнительной памяти (работает на месте)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fkGroteskNeue"/>
              </a:rPr>
              <a:t>Хорошо подходит для обучения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C1F45884-BE34-447B-9987-5761997AE515}"/>
              </a:ext>
            </a:extLst>
          </p:cNvPr>
          <p:cNvCxnSpPr>
            <a:cxnSpLocks/>
            <a:stCxn id="3" idx="2"/>
            <a:endCxn id="11" idx="0"/>
          </p:cNvCxnSpPr>
          <p:nvPr/>
        </p:nvCxnSpPr>
        <p:spPr>
          <a:xfrm flipH="1">
            <a:off x="2902879" y="2348508"/>
            <a:ext cx="1" cy="9126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815302AA-825E-4D88-B8BE-5EC09AC072B8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>
            <a:off x="9289121" y="2348508"/>
            <a:ext cx="1" cy="91268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7505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0023096E-5A36-44C9-B4DA-9241989B2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3050" y="-88900"/>
            <a:ext cx="12528550" cy="707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B8A4F0A-6F58-4CE2-B540-B765F0F2C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651588"/>
            <a:ext cx="10102850" cy="6073062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73BB6ECB-F005-4DA6-B4F0-60A9CC4A01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6200" y="-98425"/>
            <a:ext cx="12344400" cy="750013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Пример кода на </a:t>
            </a:r>
            <a:r>
              <a:rPr lang="en-US" dirty="0">
                <a:solidFill>
                  <a:schemeClr val="bg1"/>
                </a:solidFill>
              </a:rPr>
              <a:t>C++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5488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 descr="Picture background">
            <a:extLst>
              <a:ext uri="{FF2B5EF4-FFF2-40B4-BE49-F238E27FC236}">
                <a16:creationId xmlns:a16="http://schemas.microsoft.com/office/drawing/2014/main" id="{44BCC45B-A290-42F4-9A52-875879750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-196850"/>
            <a:ext cx="12405189" cy="705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17DF51-31BF-4831-918B-B872FDEDD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6200" y="-98425"/>
            <a:ext cx="12344400" cy="750013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Применение алгоритма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5552E8-4D6A-4356-9C94-F087970ACF82}"/>
              </a:ext>
            </a:extLst>
          </p:cNvPr>
          <p:cNvSpPr txBox="1"/>
          <p:nvPr/>
        </p:nvSpPr>
        <p:spPr>
          <a:xfrm>
            <a:off x="4616450" y="928718"/>
            <a:ext cx="765175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В образовании: широко используется для обучения основам алгоритмов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 реальных задачах: применяется редко, только для маленьких массивов или когда данные почти отсортированы.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В условиях ограниченных ресурсов: удобна, если нельзя использовать дополнительную память.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В качестве основы для изучения других алгоритмов: помогает понять принципы сортировки и оптимизации.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5EFE8C2-53D0-42EE-BF59-23ED9534BAB9}"/>
              </a:ext>
            </a:extLst>
          </p:cNvPr>
          <p:cNvSpPr/>
          <p:nvPr/>
        </p:nvSpPr>
        <p:spPr>
          <a:xfrm>
            <a:off x="4445000" y="769063"/>
            <a:ext cx="7883989" cy="4609387"/>
          </a:xfrm>
          <a:prstGeom prst="rect">
            <a:avLst/>
          </a:prstGeom>
          <a:solidFill>
            <a:schemeClr val="bg2">
              <a:lumMod val="75000"/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F9C789E-2BC7-4781-8256-EF447CF858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9" y="966200"/>
            <a:ext cx="3840749" cy="384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939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 descr="Picture background">
            <a:extLst>
              <a:ext uri="{FF2B5EF4-FFF2-40B4-BE49-F238E27FC236}">
                <a16:creationId xmlns:a16="http://schemas.microsoft.com/office/drawing/2014/main" id="{44BCC45B-A290-42F4-9A52-875879750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-196850"/>
            <a:ext cx="12405189" cy="705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17DF51-31BF-4831-918B-B872FDEDD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6200" y="-98425"/>
            <a:ext cx="12344400" cy="750013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Заключение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5B6583-1B6D-41EE-9199-C156B562C430}"/>
              </a:ext>
            </a:extLst>
          </p:cNvPr>
          <p:cNvSpPr txBox="1"/>
          <p:nvPr/>
        </p:nvSpPr>
        <p:spPr>
          <a:xfrm>
            <a:off x="374650" y="651588"/>
            <a:ext cx="1144269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fkGroteskNeue"/>
              </a:rPr>
              <a:t>Пузырьковая сортировка — простой и наглядный алгоритм, идеально подходящий для обучения основам программирования. Несмотря на низкую эффективность, она помогает понять принципы сортировки.</a:t>
            </a:r>
          </a:p>
          <a:p>
            <a:endParaRPr lang="ru-RU" sz="2400" dirty="0">
              <a:solidFill>
                <a:schemeClr val="bg1"/>
              </a:solidFill>
              <a:latin typeface="fkGroteskNeue"/>
            </a:endParaRPr>
          </a:p>
          <a:p>
            <a:r>
              <a:rPr lang="ru-RU" sz="2400" dirty="0">
                <a:solidFill>
                  <a:schemeClr val="bg1"/>
                </a:solidFill>
                <a:latin typeface="fkGroteskNeue"/>
              </a:rPr>
              <a:t>В реальной практике используется редко, так как существуют более быстрые и эффективные алгоритмы.</a:t>
            </a:r>
          </a:p>
          <a:p>
            <a:r>
              <a:rPr lang="ru-RU" sz="2400" dirty="0">
                <a:solidFill>
                  <a:schemeClr val="bg1"/>
                </a:solidFill>
                <a:latin typeface="fkGroteskNeue"/>
              </a:rPr>
              <a:t>Основные преимущества: простота реализации, стабильность, минимальное использование памяти.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C0BA60-122D-4275-94E7-3FB571DFB13C}"/>
              </a:ext>
            </a:extLst>
          </p:cNvPr>
          <p:cNvSpPr txBox="1"/>
          <p:nvPr/>
        </p:nvSpPr>
        <p:spPr>
          <a:xfrm>
            <a:off x="1" y="4212082"/>
            <a:ext cx="1232898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ru-RU" sz="2800" dirty="0">
                <a:solidFill>
                  <a:schemeClr val="bg1"/>
                </a:solidFill>
              </a:rPr>
            </a:br>
            <a:r>
              <a:rPr lang="ru-RU" sz="2800" b="0" i="0" dirty="0">
                <a:solidFill>
                  <a:schemeClr val="bg1"/>
                </a:solidFill>
                <a:effectLst/>
                <a:latin typeface="fkGroteskNeue"/>
              </a:rPr>
              <a:t>Пузырьковая сортировка — отличный способ начать изучение алгоритмов, но </a:t>
            </a:r>
            <a:r>
              <a:rPr lang="ru-RU" sz="2800" dirty="0">
                <a:solidFill>
                  <a:schemeClr val="bg1"/>
                </a:solidFill>
                <a:latin typeface="fkGroteskNeue"/>
              </a:rPr>
              <a:t>не </a:t>
            </a:r>
            <a:r>
              <a:rPr lang="ru-RU" sz="2800" b="0" i="0" dirty="0">
                <a:solidFill>
                  <a:schemeClr val="bg1"/>
                </a:solidFill>
                <a:effectLst/>
                <a:latin typeface="fkGroteskNeue"/>
              </a:rPr>
              <a:t>для серьёзных задач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E70B97E-474D-4FD1-9555-E3A624A0A6AB}"/>
              </a:ext>
            </a:extLst>
          </p:cNvPr>
          <p:cNvSpPr/>
          <p:nvPr/>
        </p:nvSpPr>
        <p:spPr>
          <a:xfrm>
            <a:off x="374650" y="750013"/>
            <a:ext cx="11442699" cy="2907587"/>
          </a:xfrm>
          <a:prstGeom prst="rect">
            <a:avLst/>
          </a:prstGeom>
          <a:solidFill>
            <a:schemeClr val="bg2">
              <a:lumMod val="50000"/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C48454A-C118-4595-86C0-50FF62C9B943}"/>
              </a:ext>
            </a:extLst>
          </p:cNvPr>
          <p:cNvSpPr/>
          <p:nvPr/>
        </p:nvSpPr>
        <p:spPr>
          <a:xfrm>
            <a:off x="-117012" y="3926330"/>
            <a:ext cx="12486811" cy="1840122"/>
          </a:xfrm>
          <a:prstGeom prst="rect">
            <a:avLst/>
          </a:prstGeom>
          <a:solidFill>
            <a:schemeClr val="bg2">
              <a:lumMod val="50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C772F5-7F3E-42A4-89D8-85CDCED921C5}"/>
              </a:ext>
            </a:extLst>
          </p:cNvPr>
          <p:cNvSpPr txBox="1"/>
          <p:nvPr/>
        </p:nvSpPr>
        <p:spPr>
          <a:xfrm>
            <a:off x="2303464" y="3926330"/>
            <a:ext cx="64928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0" i="0" dirty="0">
                <a:solidFill>
                  <a:schemeClr val="bg1"/>
                </a:solidFill>
                <a:effectLst/>
                <a:latin typeface="fkGroteskNeue"/>
              </a:rPr>
              <a:t>Вывод: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371321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0023096E-5A36-44C9-B4DA-9241989B2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3050" y="-88900"/>
            <a:ext cx="12528550" cy="707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827D92-D12A-4AAF-B266-B87D3789EDD7}"/>
              </a:ext>
            </a:extLst>
          </p:cNvPr>
          <p:cNvSpPr txBox="1"/>
          <p:nvPr/>
        </p:nvSpPr>
        <p:spPr>
          <a:xfrm>
            <a:off x="2817813" y="2659559"/>
            <a:ext cx="63468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fkGroteskNeue"/>
              </a:rPr>
              <a:t>Спасибо за внимание!</a:t>
            </a:r>
            <a:endParaRPr lang="ru-RU" sz="4400" dirty="0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FD306D45-70F7-47D9-81BE-2CD94023CAFD}"/>
              </a:ext>
            </a:extLst>
          </p:cNvPr>
          <p:cNvSpPr/>
          <p:nvPr/>
        </p:nvSpPr>
        <p:spPr>
          <a:xfrm>
            <a:off x="2914650" y="2311400"/>
            <a:ext cx="6508750" cy="1676400"/>
          </a:xfrm>
          <a:prstGeom prst="ellipse">
            <a:avLst/>
          </a:prstGeom>
          <a:solidFill>
            <a:schemeClr val="bg2">
              <a:lumMod val="5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7068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429</Words>
  <Application>Microsoft Office PowerPoint</Application>
  <PresentationFormat>Широкоэкранный</PresentationFormat>
  <Paragraphs>53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fkGroteskNeue</vt:lpstr>
      <vt:lpstr>KaTeX_Main</vt:lpstr>
      <vt:lpstr>KaTeX_Math</vt:lpstr>
      <vt:lpstr>YS Text</vt:lpstr>
      <vt:lpstr>Тема Office</vt:lpstr>
      <vt:lpstr>Пузырьковая сортировка</vt:lpstr>
      <vt:lpstr>История алгоритма </vt:lpstr>
      <vt:lpstr>Основная идея сортировки</vt:lpstr>
      <vt:lpstr>Механизм пузырьковой сортировки</vt:lpstr>
      <vt:lpstr>Характеристики пузырьковой сортировки</vt:lpstr>
      <vt:lpstr>Преимущества и недостатки</vt:lpstr>
      <vt:lpstr>Пример кода на C++</vt:lpstr>
      <vt:lpstr>Применение алгоритма</vt:lpstr>
      <vt:lpstr>Заключение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Egor Rusakov</dc:creator>
  <cp:lastModifiedBy>Egor Rusakov</cp:lastModifiedBy>
  <cp:revision>16</cp:revision>
  <dcterms:created xsi:type="dcterms:W3CDTF">2025-11-09T17:57:33Z</dcterms:created>
  <dcterms:modified xsi:type="dcterms:W3CDTF">2025-11-10T06:08:28Z</dcterms:modified>
</cp:coreProperties>
</file>